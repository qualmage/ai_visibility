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44" d="100"/>
          <a:sy n="144" d="100"/>
        </p:scale>
        <p:origin x="176" y="3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r>
              <a:rPr lang="en-GB" sz="1200" b="1">
                <a:latin typeface="Samsung Sharp Sans"/>
              </a:rPr>
              <a:t>Top Mini-LED Prompts Triggering YouTube Citations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Citations</c:v>
                </c:pt>
              </c:strCache>
            </c:strRef>
          </c:tx>
          <c:spPr>
            <a:solidFill>
              <a:srgbClr val="1428A0"/>
            </a:solidFill>
          </c:spPr>
          <c:invertIfNegative val="1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>
                    <a:latin typeface="Samsung One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Sheet1!$A$2:$A$11</c:f>
              <c:strCache>
                <c:ptCount val="10"/>
                <c:pt idx="0">
                  <c:v>Mini-LED vs QLED</c:v>
                </c:pt>
                <c:pt idx="1">
                  <c:v>Mini-LED tv explained</c:v>
                </c:pt>
                <c:pt idx="2">
                  <c:v>best-reviewed Mini-LED tvs</c:v>
                </c:pt>
                <c:pt idx="3">
                  <c:v>Mini-LED vs OLED</c:v>
                </c:pt>
                <c:pt idx="4">
                  <c:v>Mini-LED vs Micro RGB differences</c:v>
                </c:pt>
                <c:pt idx="5">
                  <c:v>is OLED worth extra over Mini-LED</c:v>
                </c:pt>
                <c:pt idx="6">
                  <c:v>is Mini-LED better than OLED</c:v>
                </c:pt>
                <c:pt idx="7">
                  <c:v>what is Mini-LED</c:v>
                </c:pt>
                <c:pt idx="8">
                  <c:v>is Mini-LED worth it</c:v>
                </c:pt>
                <c:pt idx="9">
                  <c:v>Mini-LED gaming performance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66</c:v>
                </c:pt>
                <c:pt idx="1">
                  <c:v>65</c:v>
                </c:pt>
                <c:pt idx="2">
                  <c:v>52</c:v>
                </c:pt>
                <c:pt idx="3">
                  <c:v>52</c:v>
                </c:pt>
                <c:pt idx="4">
                  <c:v>48</c:v>
                </c:pt>
                <c:pt idx="5">
                  <c:v>46</c:v>
                </c:pt>
                <c:pt idx="6">
                  <c:v>46</c:v>
                </c:pt>
                <c:pt idx="7">
                  <c:v>43</c:v>
                </c:pt>
                <c:pt idx="8">
                  <c:v>42</c:v>
                </c:pt>
                <c:pt idx="9">
                  <c:v>40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A43E-48C2-A802-1AD55BDCA3F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900">
                <a:latin typeface="Samsung One"/>
              </a:defRPr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1"/>
        <c:axPos val="t"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r>
              <a:rPr lang="en-US" sz="1200" b="1">
                <a:latin typeface="Samsung Sharp Sans"/>
              </a:rPr>
              <a:t>Citations by Channel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Citations</c:v>
                </c:pt>
              </c:strCache>
            </c:strRef>
          </c:tx>
          <c:spPr>
            <a:solidFill>
              <a:srgbClr val="1428A0"/>
            </a:solidFill>
          </c:spPr>
          <c:invertIfNegative val="1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>
                    <a:latin typeface="Samsung One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Sheet1!$A$2:$A$11</c:f>
              <c:strCache>
                <c:ptCount val="10"/>
                <c:pt idx="0">
                  <c:v>RTINGS Home Theater</c:v>
                </c:pt>
                <c:pt idx="1">
                  <c:v>Digital Trends</c:v>
                </c:pt>
                <c:pt idx="2">
                  <c:v>Explaining Tech Like</c:v>
                </c:pt>
                <c:pt idx="3">
                  <c:v>Switch and Click</c:v>
                </c:pt>
                <c:pt idx="4">
                  <c:v>ForeMost Picks</c:v>
                </c:pt>
                <c:pt idx="5">
                  <c:v>The Viewing Angle</c:v>
                </c:pt>
                <c:pt idx="6">
                  <c:v>Jon Rettinger</c:v>
                </c:pt>
                <c:pt idx="7">
                  <c:v>The Display Guy</c:v>
                </c:pt>
                <c:pt idx="8">
                  <c:v>Toasty Bros</c:v>
                </c:pt>
                <c:pt idx="9">
                  <c:v>all things tech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111</c:v>
                </c:pt>
                <c:pt idx="1">
                  <c:v>105</c:v>
                </c:pt>
                <c:pt idx="2">
                  <c:v>102</c:v>
                </c:pt>
                <c:pt idx="3">
                  <c:v>80</c:v>
                </c:pt>
                <c:pt idx="4">
                  <c:v>69</c:v>
                </c:pt>
                <c:pt idx="5">
                  <c:v>64</c:v>
                </c:pt>
                <c:pt idx="6">
                  <c:v>47</c:v>
                </c:pt>
                <c:pt idx="7">
                  <c:v>42</c:v>
                </c:pt>
                <c:pt idx="8">
                  <c:v>29</c:v>
                </c:pt>
                <c:pt idx="9">
                  <c:v>21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0F18-46C4-A80B-65A89D7D3CF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900">
                <a:latin typeface="Samsung One"/>
              </a:defRPr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1"/>
        <c:axPos val="t"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r>
              <a:rPr lang="en-GB" sz="1200" b="1">
                <a:latin typeface="Samsung Sharp Sans"/>
              </a:rPr>
              <a:t>Key Themes in Mini-LED Transcripts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Citations</c:v>
                </c:pt>
              </c:strCache>
            </c:strRef>
          </c:tx>
          <c:spPr>
            <a:solidFill>
              <a:srgbClr val="92D050"/>
            </a:solidFill>
          </c:spPr>
          <c:invertIfNegative val="1"/>
          <c:dPt>
            <c:idx val="0"/>
            <c:invertIfNegative val="1"/>
            <c:bubble3D val="0"/>
            <c:spPr>
              <a:solidFill>
                <a:schemeClr val="tx1">
                  <a:lumMod val="50000"/>
                  <a:lumOff val="50000"/>
                </a:schemeClr>
              </a:solidFill>
            </c:spPr>
            <c:extLst>
              <c:ext xmlns:c16="http://schemas.microsoft.com/office/drawing/2014/chart" uri="{C3380CC4-5D6E-409C-BE32-E72D297353CC}">
                <c16:uniqueId val="{00000002-174B-446D-84B5-9282648E6CDA}"/>
              </c:ext>
            </c:extLst>
          </c:dPt>
          <c:dPt>
            <c:idx val="4"/>
            <c:invertIfNegative val="1"/>
            <c:bubble3D val="0"/>
            <c:spPr>
              <a:solidFill>
                <a:schemeClr val="accent2"/>
              </a:solidFill>
            </c:spPr>
            <c:extLst>
              <c:ext xmlns:c16="http://schemas.microsoft.com/office/drawing/2014/chart" uri="{C3380CC4-5D6E-409C-BE32-E72D297353CC}">
                <c16:uniqueId val="{00000001-174B-446D-84B5-9282648E6CDA}"/>
              </c:ext>
            </c:extLst>
          </c:dPt>
          <c:dPt>
            <c:idx val="6"/>
            <c:invertIfNegative val="1"/>
            <c:bubble3D val="0"/>
            <c:spPr>
              <a:solidFill>
                <a:schemeClr val="tx1">
                  <a:lumMod val="50000"/>
                  <a:lumOff val="50000"/>
                </a:schemeClr>
              </a:solidFill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c:spPr>
            <c:extLst>
              <c:ext xmlns:c16="http://schemas.microsoft.com/office/drawing/2014/chart" uri="{C3380CC4-5D6E-409C-BE32-E72D297353CC}">
                <c16:uniqueId val="{00000004-174B-446D-84B5-9282648E6CDA}"/>
              </c:ext>
            </c:extLst>
          </c:dPt>
          <c:dPt>
            <c:idx val="7"/>
            <c:invertIfNegative val="1"/>
            <c:bubble3D val="0"/>
            <c:spPr>
              <a:solidFill>
                <a:schemeClr val="tx1">
                  <a:lumMod val="50000"/>
                  <a:lumOff val="50000"/>
                </a:schemeClr>
              </a:solidFill>
            </c:spPr>
            <c:extLst>
              <c:ext xmlns:c16="http://schemas.microsoft.com/office/drawing/2014/chart" uri="{C3380CC4-5D6E-409C-BE32-E72D297353CC}">
                <c16:uniqueId val="{00000003-174B-446D-84B5-9282648E6CDA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>
                    <a:latin typeface="Samsung One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Sheet1!$A$2:$A$11</c:f>
              <c:strCache>
                <c:ptCount val="10"/>
                <c:pt idx="0">
                  <c:v>Mini-LED vs OLED Comparisons</c:v>
                </c:pt>
                <c:pt idx="1">
                  <c:v>Brightness &amp; HDR Performance</c:v>
                </c:pt>
                <c:pt idx="2">
                  <c:v>Dimming Zones &amp; Local Dimming</c:v>
                </c:pt>
                <c:pt idx="3">
                  <c:v>Price &amp; Value Proposition</c:v>
                </c:pt>
                <c:pt idx="4">
                  <c:v>Blooming &amp; Halo Effects</c:v>
                </c:pt>
                <c:pt idx="5">
                  <c:v>Gaming Performance</c:v>
                </c:pt>
                <c:pt idx="6">
                  <c:v>Room Lighting Considerations</c:v>
                </c:pt>
                <c:pt idx="7">
                  <c:v>Samsung Neo QLED Branding</c:v>
                </c:pt>
                <c:pt idx="8">
                  <c:v>Contrast &amp; Black Levels</c:v>
                </c:pt>
                <c:pt idx="9">
                  <c:v>RGB Mini-LED &amp; Next Gen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52</c:v>
                </c:pt>
                <c:pt idx="1">
                  <c:v>46</c:v>
                </c:pt>
                <c:pt idx="2">
                  <c:v>42</c:v>
                </c:pt>
                <c:pt idx="3">
                  <c:v>38</c:v>
                </c:pt>
                <c:pt idx="4">
                  <c:v>35</c:v>
                </c:pt>
                <c:pt idx="5">
                  <c:v>31</c:v>
                </c:pt>
                <c:pt idx="6">
                  <c:v>28</c:v>
                </c:pt>
                <c:pt idx="7">
                  <c:v>24</c:v>
                </c:pt>
                <c:pt idx="8">
                  <c:v>22</c:v>
                </c:pt>
                <c:pt idx="9">
                  <c:v>18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174B-446D-84B5-9282648E6CD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900">
                <a:latin typeface="Samsung One"/>
              </a:defRPr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1"/>
        <c:axPos val="t"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r>
              <a:rPr lang="en-US" sz="1200" b="1">
                <a:latin typeface="Samsung Sharp Sans"/>
              </a:rPr>
              <a:t>Most Frequent Terms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Citations</c:v>
                </c:pt>
              </c:strCache>
            </c:strRef>
          </c:tx>
          <c:spPr>
            <a:solidFill>
              <a:srgbClr val="1428A0"/>
            </a:solidFill>
          </c:spPr>
          <c:invertIfNegative val="1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>
                    <a:latin typeface="Samsung One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Sheet1!$A$2:$A$16</c:f>
              <c:strCache>
                <c:ptCount val="15"/>
                <c:pt idx="0">
                  <c:v>Mini-LED</c:v>
                </c:pt>
                <c:pt idx="1">
                  <c:v>OLED</c:v>
                </c:pt>
                <c:pt idx="2">
                  <c:v>backlight</c:v>
                </c:pt>
                <c:pt idx="3">
                  <c:v>dimming zones</c:v>
                </c:pt>
                <c:pt idx="4">
                  <c:v>brightness</c:v>
                </c:pt>
                <c:pt idx="5">
                  <c:v>Samsung</c:v>
                </c:pt>
                <c:pt idx="6">
                  <c:v>contrast</c:v>
                </c:pt>
                <c:pt idx="7">
                  <c:v>Neo QLED</c:v>
                </c:pt>
                <c:pt idx="8">
                  <c:v>blooming</c:v>
                </c:pt>
                <c:pt idx="9">
                  <c:v>HDR</c:v>
                </c:pt>
                <c:pt idx="10">
                  <c:v>Sony Bravia 9</c:v>
                </c:pt>
                <c:pt idx="11">
                  <c:v>TCL</c:v>
                </c:pt>
                <c:pt idx="12">
                  <c:v>Hisense</c:v>
                </c:pt>
                <c:pt idx="13">
                  <c:v>quantum dots</c:v>
                </c:pt>
                <c:pt idx="14">
                  <c:v>QLED</c:v>
                </c:pt>
              </c:strCache>
            </c:strRef>
          </c:cat>
          <c:val>
            <c:numRef>
              <c:f>Sheet1!$B$2:$B$16</c:f>
              <c:numCache>
                <c:formatCode>General</c:formatCode>
                <c:ptCount val="15"/>
                <c:pt idx="0">
                  <c:v>892</c:v>
                </c:pt>
                <c:pt idx="1">
                  <c:v>756</c:v>
                </c:pt>
                <c:pt idx="2">
                  <c:v>634</c:v>
                </c:pt>
                <c:pt idx="3">
                  <c:v>587</c:v>
                </c:pt>
                <c:pt idx="4">
                  <c:v>523</c:v>
                </c:pt>
                <c:pt idx="5">
                  <c:v>498</c:v>
                </c:pt>
                <c:pt idx="6">
                  <c:v>467</c:v>
                </c:pt>
                <c:pt idx="7">
                  <c:v>412</c:v>
                </c:pt>
                <c:pt idx="8">
                  <c:v>389</c:v>
                </c:pt>
                <c:pt idx="9">
                  <c:v>356</c:v>
                </c:pt>
                <c:pt idx="10">
                  <c:v>334</c:v>
                </c:pt>
                <c:pt idx="11">
                  <c:v>312</c:v>
                </c:pt>
                <c:pt idx="12">
                  <c:v>298</c:v>
                </c:pt>
                <c:pt idx="13">
                  <c:v>276</c:v>
                </c:pt>
                <c:pt idx="14">
                  <c:v>245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C960-48FB-8471-B8BFDACEF35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900">
                <a:latin typeface="Samsung One"/>
              </a:defRPr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1"/>
        <c:axPos val="t"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42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7315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Samsung Sharp Sans"/>
              </a:rPr>
              <a:t>YouTube Citations Overview</a:t>
            </a:r>
            <a:r>
              <a:rPr sz="1400">
                <a:solidFill>
                  <a:srgbClr val="CCCCFF"/>
                </a:solidFill>
                <a:latin typeface="Samsung One"/>
              </a:rPr>
              <a:t>  AI Model Video References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0" y="228600"/>
            <a:ext cx="2743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DDDDFF"/>
                </a:solidFill>
                <a:latin typeface="Samsung One"/>
              </a:rPr>
              <a:t>YouTube Citations | Feb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51560"/>
            <a:ext cx="2148840" cy="123444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57200" y="1051560"/>
            <a:ext cx="2148840" cy="50800"/>
          </a:xfrm>
          <a:prstGeom prst="rect">
            <a:avLst/>
          </a:prstGeom>
          <a:solidFill>
            <a:srgbClr val="142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188720"/>
            <a:ext cx="21488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 b="1">
                <a:solidFill>
                  <a:srgbClr val="1428A0"/>
                </a:solidFill>
                <a:latin typeface="Samsung Sharp Sans"/>
              </a:rPr>
              <a:t>164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691640"/>
            <a:ext cx="2148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000000"/>
                </a:solidFill>
                <a:latin typeface="Samsung Sharp Sans"/>
              </a:rPr>
              <a:t>VIDEOS ANALYZED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965960"/>
            <a:ext cx="2148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666666"/>
                </a:solidFill>
                <a:latin typeface="Samsung One"/>
              </a:rPr>
              <a:t>Unique YouTube videos cited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70632" y="1051560"/>
            <a:ext cx="2148840" cy="123444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2770632" y="1051560"/>
            <a:ext cx="2148840" cy="50800"/>
          </a:xfrm>
          <a:prstGeom prst="rect">
            <a:avLst/>
          </a:prstGeom>
          <a:solidFill>
            <a:srgbClr val="142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770632" y="1188720"/>
            <a:ext cx="21488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 b="1">
                <a:solidFill>
                  <a:srgbClr val="1428A0"/>
                </a:solidFill>
                <a:latin typeface="Samsung Sharp Sans"/>
              </a:rPr>
              <a:t>86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70632" y="1691640"/>
            <a:ext cx="2148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000000"/>
                </a:solidFill>
                <a:latin typeface="Samsung Sharp Sans"/>
              </a:rPr>
              <a:t>UNIQUE CHANNELS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70632" y="1965960"/>
            <a:ext cx="2148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666666"/>
                </a:solidFill>
                <a:latin typeface="Samsung One"/>
              </a:rPr>
              <a:t>Distinct YouTube creators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84064" y="1051560"/>
            <a:ext cx="2148840" cy="123444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084064" y="1051560"/>
            <a:ext cx="2148840" cy="50800"/>
          </a:xfrm>
          <a:prstGeom prst="rect">
            <a:avLst/>
          </a:prstGeom>
          <a:solidFill>
            <a:srgbClr val="142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084064" y="1188720"/>
            <a:ext cx="21488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 b="1">
                <a:solidFill>
                  <a:srgbClr val="1428A0"/>
                </a:solidFill>
                <a:latin typeface="Samsung Sharp Sans"/>
              </a:rPr>
              <a:t>3,175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84064" y="1691640"/>
            <a:ext cx="2148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000000"/>
                </a:solidFill>
                <a:latin typeface="Samsung Sharp Sans"/>
              </a:rPr>
              <a:t>TOTAL CITATIONS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84064" y="1965960"/>
            <a:ext cx="2148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666666"/>
                </a:solidFill>
                <a:latin typeface="Samsung One"/>
              </a:rPr>
              <a:t>YouTube links in AI responses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97496" y="1051560"/>
            <a:ext cx="2148840" cy="123444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7397496" y="1051560"/>
            <a:ext cx="2148840" cy="50800"/>
          </a:xfrm>
          <a:prstGeom prst="rect">
            <a:avLst/>
          </a:prstGeom>
          <a:solidFill>
            <a:srgbClr val="142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397496" y="1188720"/>
            <a:ext cx="21488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 b="1">
                <a:solidFill>
                  <a:srgbClr val="1428A0"/>
                </a:solidFill>
                <a:latin typeface="Samsung Sharp Sans"/>
              </a:rPr>
              <a:t>4,469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97496" y="1691640"/>
            <a:ext cx="2148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000000"/>
                </a:solidFill>
                <a:latin typeface="Samsung Sharp Sans"/>
              </a:rPr>
              <a:t>COMMENTS COLLECTED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97496" y="1965960"/>
            <a:ext cx="2148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666666"/>
                </a:solidFill>
                <a:latin typeface="Samsung One"/>
              </a:rPr>
              <a:t>User comments analyzed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710928" y="1051560"/>
            <a:ext cx="2148840" cy="123444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9710928" y="1051560"/>
            <a:ext cx="2148840" cy="50800"/>
          </a:xfrm>
          <a:prstGeom prst="rect">
            <a:avLst/>
          </a:prstGeom>
          <a:solidFill>
            <a:srgbClr val="142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710928" y="1188720"/>
            <a:ext cx="21488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 b="1">
                <a:solidFill>
                  <a:srgbClr val="1428A0"/>
                </a:solidFill>
                <a:latin typeface="Samsung Sharp Sans"/>
              </a:rPr>
              <a:t>18.2M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10928" y="1691640"/>
            <a:ext cx="2148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000000"/>
                </a:solidFill>
                <a:latin typeface="Samsung Sharp Sans"/>
              </a:rPr>
              <a:t>TOTAL VIEWS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10928" y="1965960"/>
            <a:ext cx="2148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666666"/>
                </a:solidFill>
                <a:latin typeface="Samsung One"/>
              </a:rPr>
              <a:t>Aggregate video view count</a:t>
            </a:r>
          </a:p>
        </p:txBody>
      </p:sp>
      <p:graphicFrame>
        <p:nvGraphicFramePr>
          <p:cNvPr id="30" name="Chart 29"/>
          <p:cNvGraphicFramePr>
            <a:graphicFrameLocks noGrp="1"/>
          </p:cNvGraphicFramePr>
          <p:nvPr/>
        </p:nvGraphicFramePr>
        <p:xfrm>
          <a:off x="457200" y="2514600"/>
          <a:ext cx="7315200" cy="3931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1" name="Rectangle 30"/>
          <p:cNvSpPr/>
          <p:nvPr/>
        </p:nvSpPr>
        <p:spPr>
          <a:xfrm>
            <a:off x="8046720" y="2514600"/>
            <a:ext cx="3657600" cy="1234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8046720" y="2514600"/>
            <a:ext cx="50800" cy="1234440"/>
          </a:xfrm>
          <a:prstGeom prst="rect">
            <a:avLst/>
          </a:prstGeom>
          <a:solidFill>
            <a:srgbClr val="142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183880" y="2587752"/>
            <a:ext cx="3383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428A0"/>
                </a:solidFill>
                <a:latin typeface="Samsung Sharp Sans"/>
              </a:rPr>
              <a:t>Comparison Queries Dominate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83880" y="2834640"/>
            <a:ext cx="33832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666666"/>
                </a:solidFill>
                <a:latin typeface="Samsung One"/>
              </a:rPr>
              <a:t>"Mini-LED vs QLED" and "Mini-LED vs OLED" are the top prompts. AI models cite YouTube videos when users ask head-to-head technology questions.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046720" y="3886200"/>
            <a:ext cx="3657600" cy="1234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8046720" y="3886200"/>
            <a:ext cx="50800" cy="1234440"/>
          </a:xfrm>
          <a:prstGeom prst="rect">
            <a:avLst/>
          </a:prstGeom>
          <a:solidFill>
            <a:srgbClr val="142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8183880" y="3959352"/>
            <a:ext cx="3383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 dirty="0">
                <a:solidFill>
                  <a:srgbClr val="1428A0"/>
                </a:solidFill>
                <a:latin typeface="Samsung Sharp Sans"/>
              </a:rPr>
              <a:t>Educational Content Cited Heavily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183880" y="4206240"/>
            <a:ext cx="33832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dirty="0">
                <a:solidFill>
                  <a:srgbClr val="666666"/>
                </a:solidFill>
                <a:latin typeface="Samsung One"/>
              </a:rPr>
              <a:t>"What is Mini-LED" and "Mini-LED tv explained" drive 108 combined citations — AI models rely on YouTube explainers to educate users.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046720" y="5257800"/>
            <a:ext cx="3657600" cy="1234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8046720" y="5257800"/>
            <a:ext cx="50800" cy="1234440"/>
          </a:xfrm>
          <a:prstGeom prst="rect">
            <a:avLst/>
          </a:prstGeom>
          <a:solidFill>
            <a:srgbClr val="142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8183880" y="5330952"/>
            <a:ext cx="3383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428A0"/>
                </a:solidFill>
                <a:latin typeface="Samsung Sharp Sans"/>
              </a:rPr>
              <a:t>Purchase Intent Signals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183880" y="5577840"/>
            <a:ext cx="33832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666666"/>
                </a:solidFill>
                <a:latin typeface="Samsung One"/>
              </a:rPr>
              <a:t>"Is Mini-LED worth it", "best-reviewed Mini-LED tvs", and gaming performance queries show AI models surfacing video content at the decision stage.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42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7315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dirty="0">
                <a:solidFill>
                  <a:srgbClr val="FFFFFF"/>
                </a:solidFill>
                <a:latin typeface="Samsung Sharp Sans"/>
              </a:rPr>
              <a:t>Influencer Channel Analysis</a:t>
            </a:r>
            <a:r>
              <a:rPr sz="1400" dirty="0">
                <a:solidFill>
                  <a:srgbClr val="CCCCFF"/>
                </a:solidFill>
                <a:latin typeface="Samsung One"/>
              </a:rPr>
              <a:t>  Top YouTube Channels Cited for Mini-LED Content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0" y="228600"/>
            <a:ext cx="2743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DDDDFF"/>
                </a:solidFill>
                <a:latin typeface="Samsung One"/>
              </a:rPr>
              <a:t>YouTube Citations | Feb 2026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21115650"/>
              </p:ext>
            </p:extLst>
          </p:nvPr>
        </p:nvGraphicFramePr>
        <p:xfrm>
          <a:off x="365760" y="1051560"/>
          <a:ext cx="6858000" cy="565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2862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Samsung One"/>
                        </a:defRPr>
                      </a:pPr>
                      <a:r>
                        <a:rPr sz="1100" dirty="0"/>
                        <a:t>#</a:t>
                      </a:r>
                    </a:p>
                  </a:txBody>
                  <a:tcPr>
                    <a:solidFill>
                      <a:srgbClr val="1428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Samsung One"/>
                        </a:defRPr>
                      </a:pPr>
                      <a:r>
                        <a:rPr sz="1100"/>
                        <a:t>Channel</a:t>
                      </a:r>
                    </a:p>
                  </a:txBody>
                  <a:tcPr>
                    <a:solidFill>
                      <a:srgbClr val="1428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Samsung One"/>
                        </a:defRPr>
                      </a:pPr>
                      <a:r>
                        <a:rPr sz="1100"/>
                        <a:t>Subs</a:t>
                      </a:r>
                    </a:p>
                  </a:txBody>
                  <a:tcPr>
                    <a:solidFill>
                      <a:srgbClr val="1428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Samsung One"/>
                        </a:defRPr>
                      </a:pPr>
                      <a:r>
                        <a:rPr sz="1100"/>
                        <a:t>Videos</a:t>
                      </a:r>
                    </a:p>
                  </a:txBody>
                  <a:tcPr>
                    <a:solidFill>
                      <a:srgbClr val="1428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Samsung One"/>
                        </a:defRPr>
                      </a:pPr>
                      <a:r>
                        <a:rPr sz="1100"/>
                        <a:t>Citations</a:t>
                      </a:r>
                    </a:p>
                  </a:txBody>
                  <a:tcPr>
                    <a:solidFill>
                      <a:srgbClr val="1428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Samsung One"/>
                        </a:defRPr>
                      </a:pPr>
                      <a:r>
                        <a:rPr sz="1100"/>
                        <a:t>Views</a:t>
                      </a:r>
                    </a:p>
                  </a:txBody>
                  <a:tcPr>
                    <a:solidFill>
                      <a:srgbClr val="1428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8620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00000"/>
                          </a:solidFill>
                          <a:latin typeface="Samsung One"/>
                        </a:defRPr>
                      </a:pPr>
                      <a:r>
                        <a:rPr sz="1100" dirty="0"/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00000"/>
                          </a:solidFill>
                          <a:latin typeface="Samsung One"/>
                        </a:defRPr>
                      </a:pPr>
                      <a:r>
                        <a:rPr sz="1100"/>
                        <a:t>RTINGS Home Theater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00000"/>
                          </a:solidFill>
                          <a:latin typeface="Samsung One"/>
                        </a:defRPr>
                      </a:pPr>
                      <a:r>
                        <a:rPr sz="1100"/>
                        <a:t>398K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00">
                          <a:solidFill>
                            <a:srgbClr val="000000"/>
                          </a:solidFill>
                          <a:latin typeface="Samsung One"/>
                        </a:defRPr>
                      </a:pPr>
                      <a:r>
                        <a:rPr sz="1100"/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00" b="1">
                          <a:solidFill>
                            <a:srgbClr val="1428A0"/>
                          </a:solidFill>
                          <a:latin typeface="Samsung One"/>
                        </a:defRPr>
                      </a:pPr>
                      <a:r>
                        <a:rPr sz="1100"/>
                        <a:t>111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00">
                          <a:solidFill>
                            <a:srgbClr val="000000"/>
                          </a:solidFill>
                          <a:latin typeface="Samsung One"/>
                        </a:defRPr>
                      </a:pPr>
                      <a:r>
                        <a:rPr sz="1100"/>
                        <a:t>719K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8620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00000"/>
                          </a:solidFill>
                          <a:latin typeface="Samsung One"/>
                        </a:defRPr>
                      </a:pPr>
                      <a:r>
                        <a:rPr sz="1100"/>
                        <a:t>2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00000"/>
                          </a:solidFill>
                          <a:latin typeface="Samsung One"/>
                        </a:defRPr>
                      </a:pPr>
                      <a:r>
                        <a:rPr sz="1100" dirty="0"/>
                        <a:t>Digital Trends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00000"/>
                          </a:solidFill>
                          <a:latin typeface="Samsung One"/>
                        </a:defRPr>
                      </a:pPr>
                      <a:r>
                        <a:rPr sz="1100"/>
                        <a:t>1.37M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00">
                          <a:solidFill>
                            <a:srgbClr val="000000"/>
                          </a:solidFill>
                          <a:latin typeface="Samsung One"/>
                        </a:defRPr>
                      </a:pPr>
                      <a:r>
                        <a:rPr sz="1100"/>
                        <a:t>7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00" b="1">
                          <a:solidFill>
                            <a:srgbClr val="1428A0"/>
                          </a:solidFill>
                          <a:latin typeface="Samsung One"/>
                        </a:defRPr>
                      </a:pPr>
                      <a:r>
                        <a:rPr sz="1100"/>
                        <a:t>105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00">
                          <a:solidFill>
                            <a:srgbClr val="000000"/>
                          </a:solidFill>
                          <a:latin typeface="Samsung One"/>
                        </a:defRPr>
                      </a:pPr>
                      <a:r>
                        <a:rPr sz="1100"/>
                        <a:t>3.8M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1647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00000"/>
                          </a:solidFill>
                          <a:latin typeface="Samsung One"/>
                        </a:defRPr>
                      </a:pPr>
                      <a:r>
                        <a:rPr sz="1100"/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00000"/>
                          </a:solidFill>
                          <a:latin typeface="Samsung One"/>
                        </a:defRPr>
                      </a:pPr>
                      <a:r>
                        <a:rPr sz="1100" dirty="0"/>
                        <a:t>Explaining Tech Like You're Five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00000"/>
                          </a:solidFill>
                          <a:latin typeface="Samsung One"/>
                        </a:defRPr>
                      </a:pPr>
                      <a:r>
                        <a:rPr sz="1100"/>
                        <a:t>78.5K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00">
                          <a:solidFill>
                            <a:srgbClr val="000000"/>
                          </a:solidFill>
                          <a:latin typeface="Samsung One"/>
                        </a:defRPr>
                      </a:pPr>
                      <a:r>
                        <a:rPr sz="1100"/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00" b="1">
                          <a:solidFill>
                            <a:srgbClr val="1428A0"/>
                          </a:solidFill>
                          <a:latin typeface="Samsung One"/>
                        </a:defRPr>
                      </a:pPr>
                      <a:r>
                        <a:rPr sz="1100"/>
                        <a:t>102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00">
                          <a:solidFill>
                            <a:srgbClr val="000000"/>
                          </a:solidFill>
                          <a:latin typeface="Samsung One"/>
                        </a:defRPr>
                      </a:pPr>
                      <a:r>
                        <a:rPr sz="1100"/>
                        <a:t>901K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8620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00000"/>
                          </a:solidFill>
                          <a:latin typeface="Samsung One"/>
                        </a:defRPr>
                      </a:pPr>
                      <a:r>
                        <a:rPr sz="1100"/>
                        <a:t>4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00000"/>
                          </a:solidFill>
                          <a:latin typeface="Samsung One"/>
                        </a:defRPr>
                      </a:pPr>
                      <a:r>
                        <a:rPr sz="1100" dirty="0"/>
                        <a:t>Switch and Click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00000"/>
                          </a:solidFill>
                          <a:latin typeface="Samsung One"/>
                        </a:defRPr>
                      </a:pPr>
                      <a:r>
                        <a:rPr sz="1100"/>
                        <a:t>1.09M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00">
                          <a:solidFill>
                            <a:srgbClr val="000000"/>
                          </a:solidFill>
                          <a:latin typeface="Samsung One"/>
                        </a:defRPr>
                      </a:pPr>
                      <a:r>
                        <a:rPr sz="1100"/>
                        <a:t>1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00" b="1">
                          <a:solidFill>
                            <a:srgbClr val="1428A0"/>
                          </a:solidFill>
                          <a:latin typeface="Samsung One"/>
                        </a:defRPr>
                      </a:pPr>
                      <a:r>
                        <a:rPr sz="1100"/>
                        <a:t>80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00">
                          <a:solidFill>
                            <a:srgbClr val="000000"/>
                          </a:solidFill>
                          <a:latin typeface="Samsung One"/>
                        </a:defRPr>
                      </a:pPr>
                      <a:r>
                        <a:rPr sz="1100"/>
                        <a:t>417K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8620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00000"/>
                          </a:solidFill>
                          <a:latin typeface="Samsung One"/>
                        </a:defRPr>
                      </a:pPr>
                      <a:r>
                        <a:rPr sz="1100"/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00000"/>
                          </a:solidFill>
                          <a:latin typeface="Samsung One"/>
                        </a:defRPr>
                      </a:pPr>
                      <a:r>
                        <a:rPr sz="1100"/>
                        <a:t>ForeMost Picks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00000"/>
                          </a:solidFill>
                          <a:latin typeface="Samsung One"/>
                        </a:defRPr>
                      </a:pPr>
                      <a:r>
                        <a:rPr sz="1100" dirty="0"/>
                        <a:t>2.9K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00">
                          <a:solidFill>
                            <a:srgbClr val="000000"/>
                          </a:solidFill>
                          <a:latin typeface="Samsung One"/>
                        </a:defRPr>
                      </a:pPr>
                      <a:r>
                        <a:rPr sz="1100"/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00" b="1">
                          <a:solidFill>
                            <a:srgbClr val="1428A0"/>
                          </a:solidFill>
                          <a:latin typeface="Samsung One"/>
                        </a:defRPr>
                      </a:pPr>
                      <a:r>
                        <a:rPr sz="1100"/>
                        <a:t>69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00">
                          <a:solidFill>
                            <a:srgbClr val="000000"/>
                          </a:solidFill>
                          <a:latin typeface="Samsung One"/>
                        </a:defRPr>
                      </a:pPr>
                      <a:r>
                        <a:rPr sz="1100"/>
                        <a:t>10.6K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8620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00000"/>
                          </a:solidFill>
                          <a:latin typeface="Samsung One"/>
                        </a:defRPr>
                      </a:pPr>
                      <a:r>
                        <a:rPr sz="1100"/>
                        <a:t>6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00000"/>
                          </a:solidFill>
                          <a:latin typeface="Samsung One"/>
                        </a:defRPr>
                      </a:pPr>
                      <a:r>
                        <a:rPr sz="1100"/>
                        <a:t>The Viewing Angle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00000"/>
                          </a:solidFill>
                          <a:latin typeface="Samsung One"/>
                        </a:defRPr>
                      </a:pPr>
                      <a:r>
                        <a:rPr sz="1100"/>
                        <a:t>572K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00">
                          <a:solidFill>
                            <a:srgbClr val="000000"/>
                          </a:solidFill>
                          <a:latin typeface="Samsung One"/>
                        </a:defRPr>
                      </a:pPr>
                      <a:r>
                        <a:rPr sz="1100"/>
                        <a:t>4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00" b="1">
                          <a:solidFill>
                            <a:srgbClr val="1428A0"/>
                          </a:solidFill>
                          <a:latin typeface="Samsung One"/>
                        </a:defRPr>
                      </a:pPr>
                      <a:r>
                        <a:rPr sz="1100"/>
                        <a:t>64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00">
                          <a:solidFill>
                            <a:srgbClr val="000000"/>
                          </a:solidFill>
                          <a:latin typeface="Samsung One"/>
                        </a:defRPr>
                      </a:pPr>
                      <a:r>
                        <a:rPr sz="1100"/>
                        <a:t>1.5M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8620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00000"/>
                          </a:solidFill>
                          <a:latin typeface="Samsung One"/>
                        </a:defRPr>
                      </a:pPr>
                      <a:r>
                        <a:rPr sz="1100"/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00000"/>
                          </a:solidFill>
                          <a:latin typeface="Samsung One"/>
                        </a:defRPr>
                      </a:pPr>
                      <a:r>
                        <a:rPr sz="1100"/>
                        <a:t>Jon Rettinger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00000"/>
                          </a:solidFill>
                          <a:latin typeface="Samsung One"/>
                        </a:defRPr>
                      </a:pPr>
                      <a:r>
                        <a:rPr sz="1100" dirty="0"/>
                        <a:t>1.65M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00">
                          <a:solidFill>
                            <a:srgbClr val="000000"/>
                          </a:solidFill>
                          <a:latin typeface="Samsung One"/>
                        </a:defRPr>
                      </a:pPr>
                      <a:r>
                        <a:rPr sz="1100"/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00" b="1">
                          <a:solidFill>
                            <a:srgbClr val="1428A0"/>
                          </a:solidFill>
                          <a:latin typeface="Samsung One"/>
                        </a:defRPr>
                      </a:pPr>
                      <a:r>
                        <a:rPr sz="1100"/>
                        <a:t>47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00">
                          <a:solidFill>
                            <a:srgbClr val="000000"/>
                          </a:solidFill>
                          <a:latin typeface="Samsung One"/>
                        </a:defRPr>
                      </a:pPr>
                      <a:r>
                        <a:rPr sz="1100"/>
                        <a:t>3.3M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8620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00000"/>
                          </a:solidFill>
                          <a:latin typeface="Samsung One"/>
                        </a:defRPr>
                      </a:pPr>
                      <a:r>
                        <a:rPr sz="1100"/>
                        <a:t>8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00000"/>
                          </a:solidFill>
                          <a:latin typeface="Samsung One"/>
                        </a:defRPr>
                      </a:pPr>
                      <a:r>
                        <a:rPr sz="1100"/>
                        <a:t>The Display Guy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00000"/>
                          </a:solidFill>
                          <a:latin typeface="Samsung One"/>
                        </a:defRPr>
                      </a:pPr>
                      <a:r>
                        <a:rPr sz="1100"/>
                        <a:t>50.8K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00">
                          <a:solidFill>
                            <a:srgbClr val="000000"/>
                          </a:solidFill>
                          <a:latin typeface="Samsung One"/>
                        </a:defRPr>
                      </a:pPr>
                      <a:r>
                        <a:rPr sz="1100"/>
                        <a:t>7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00" b="1">
                          <a:solidFill>
                            <a:srgbClr val="1428A0"/>
                          </a:solidFill>
                          <a:latin typeface="Samsung One"/>
                        </a:defRPr>
                      </a:pPr>
                      <a:r>
                        <a:rPr sz="1100"/>
                        <a:t>42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00">
                          <a:solidFill>
                            <a:srgbClr val="000000"/>
                          </a:solidFill>
                          <a:latin typeface="Samsung One"/>
                        </a:defRPr>
                      </a:pPr>
                      <a:r>
                        <a:rPr sz="1100"/>
                        <a:t>612K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28620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00000"/>
                          </a:solidFill>
                          <a:latin typeface="Samsung One"/>
                        </a:defRPr>
                      </a:pPr>
                      <a:r>
                        <a:rPr sz="1100"/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00000"/>
                          </a:solidFill>
                          <a:latin typeface="Samsung One"/>
                        </a:defRPr>
                      </a:pPr>
                      <a:r>
                        <a:rPr sz="1100"/>
                        <a:t>Toasty Bros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00000"/>
                          </a:solidFill>
                          <a:latin typeface="Samsung One"/>
                        </a:defRPr>
                      </a:pPr>
                      <a:r>
                        <a:rPr sz="1100"/>
                        <a:t>893K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00">
                          <a:solidFill>
                            <a:srgbClr val="000000"/>
                          </a:solidFill>
                          <a:latin typeface="Samsung One"/>
                        </a:defRPr>
                      </a:pPr>
                      <a:r>
                        <a:rPr sz="1100"/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00" b="1">
                          <a:solidFill>
                            <a:srgbClr val="1428A0"/>
                          </a:solidFill>
                          <a:latin typeface="Samsung One"/>
                        </a:defRPr>
                      </a:pPr>
                      <a:r>
                        <a:rPr sz="1100"/>
                        <a:t>29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00">
                          <a:solidFill>
                            <a:srgbClr val="000000"/>
                          </a:solidFill>
                          <a:latin typeface="Samsung One"/>
                        </a:defRPr>
                      </a:pPr>
                      <a:r>
                        <a:rPr sz="1100"/>
                        <a:t>118K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28620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00000"/>
                          </a:solidFill>
                          <a:latin typeface="Samsung One"/>
                        </a:defRPr>
                      </a:pPr>
                      <a:r>
                        <a:rPr sz="1100"/>
                        <a:t>10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00000"/>
                          </a:solidFill>
                          <a:latin typeface="Samsung One"/>
                        </a:defRPr>
                      </a:pPr>
                      <a:r>
                        <a:rPr sz="1100"/>
                        <a:t>all things tech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00000"/>
                          </a:solidFill>
                          <a:latin typeface="Samsung One"/>
                        </a:defRPr>
                      </a:pPr>
                      <a:r>
                        <a:rPr sz="1100"/>
                        <a:t>279K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00">
                          <a:solidFill>
                            <a:srgbClr val="000000"/>
                          </a:solidFill>
                          <a:latin typeface="Samsung One"/>
                        </a:defRPr>
                      </a:pPr>
                      <a:r>
                        <a:rPr sz="1100"/>
                        <a:t>1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00" b="1">
                          <a:solidFill>
                            <a:srgbClr val="1428A0"/>
                          </a:solidFill>
                          <a:latin typeface="Samsung One"/>
                        </a:defRPr>
                      </a:pPr>
                      <a:r>
                        <a:rPr sz="1100"/>
                        <a:t>21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00">
                          <a:solidFill>
                            <a:srgbClr val="000000"/>
                          </a:solidFill>
                          <a:latin typeface="Samsung One"/>
                        </a:defRPr>
                      </a:pPr>
                      <a:r>
                        <a:rPr sz="1100"/>
                        <a:t>435K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28620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00000"/>
                          </a:solidFill>
                          <a:latin typeface="Samsung One"/>
                        </a:defRPr>
                      </a:pPr>
                      <a:r>
                        <a:rPr sz="1100"/>
                        <a:t>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00000"/>
                          </a:solidFill>
                          <a:latin typeface="Samsung One"/>
                        </a:defRPr>
                      </a:pPr>
                      <a:r>
                        <a:rPr sz="1100"/>
                        <a:t>NextGen Picks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00000"/>
                          </a:solidFill>
                          <a:latin typeface="Samsung One"/>
                        </a:defRPr>
                      </a:pPr>
                      <a:r>
                        <a:rPr sz="1100"/>
                        <a:t>2.3K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00">
                          <a:solidFill>
                            <a:srgbClr val="000000"/>
                          </a:solidFill>
                          <a:latin typeface="Samsung One"/>
                        </a:defRPr>
                      </a:pPr>
                      <a:r>
                        <a:rPr sz="1100" dirty="0"/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00" b="1">
                          <a:solidFill>
                            <a:srgbClr val="1428A0"/>
                          </a:solidFill>
                          <a:latin typeface="Samsung One"/>
                        </a:defRPr>
                      </a:pPr>
                      <a:r>
                        <a:rPr sz="1100"/>
                        <a:t>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00">
                          <a:solidFill>
                            <a:srgbClr val="000000"/>
                          </a:solidFill>
                          <a:latin typeface="Samsung One"/>
                        </a:defRPr>
                      </a:pPr>
                      <a:r>
                        <a:rPr sz="1100"/>
                        <a:t>2.3K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28620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00000"/>
                          </a:solidFill>
                          <a:latin typeface="Samsung One"/>
                        </a:defRPr>
                      </a:pPr>
                      <a:r>
                        <a:rPr sz="1100"/>
                        <a:t>12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00000"/>
                          </a:solidFill>
                          <a:latin typeface="Samsung One"/>
                        </a:defRPr>
                      </a:pPr>
                      <a:r>
                        <a:rPr sz="1100"/>
                        <a:t>New Gen Home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00000"/>
                          </a:solidFill>
                          <a:latin typeface="Samsung One"/>
                        </a:defRPr>
                      </a:pPr>
                      <a:r>
                        <a:rPr sz="1100"/>
                        <a:t>2.8K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00">
                          <a:solidFill>
                            <a:srgbClr val="000000"/>
                          </a:solidFill>
                          <a:latin typeface="Samsung One"/>
                        </a:defRPr>
                      </a:pPr>
                      <a:r>
                        <a:rPr sz="1100"/>
                        <a:t>3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00" b="1">
                          <a:solidFill>
                            <a:srgbClr val="1428A0"/>
                          </a:solidFill>
                          <a:latin typeface="Samsung One"/>
                        </a:defRPr>
                      </a:pPr>
                      <a:r>
                        <a:rPr sz="1100"/>
                        <a:t>18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00">
                          <a:solidFill>
                            <a:srgbClr val="000000"/>
                          </a:solidFill>
                          <a:latin typeface="Samsung One"/>
                        </a:defRPr>
                      </a:pPr>
                      <a:r>
                        <a:rPr sz="1100"/>
                        <a:t>33.3K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28620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00000"/>
                          </a:solidFill>
                          <a:latin typeface="Samsung One"/>
                        </a:defRPr>
                      </a:pPr>
                      <a:r>
                        <a:rPr sz="1100"/>
                        <a:t>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00000"/>
                          </a:solidFill>
                          <a:latin typeface="Samsung One"/>
                        </a:defRPr>
                      </a:pPr>
                      <a:r>
                        <a:rPr sz="1100"/>
                        <a:t>Blumoo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00000"/>
                          </a:solidFill>
                          <a:latin typeface="Samsung One"/>
                        </a:defRPr>
                      </a:pPr>
                      <a:r>
                        <a:rPr sz="1100"/>
                        <a:t>11.8K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00">
                          <a:solidFill>
                            <a:srgbClr val="000000"/>
                          </a:solidFill>
                          <a:latin typeface="Samsung One"/>
                        </a:defRPr>
                      </a:pPr>
                      <a:r>
                        <a:rPr sz="1100"/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00" b="1">
                          <a:solidFill>
                            <a:srgbClr val="1428A0"/>
                          </a:solidFill>
                          <a:latin typeface="Samsung One"/>
                        </a:defRPr>
                      </a:pPr>
                      <a:r>
                        <a:rPr sz="1100"/>
                        <a:t>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00">
                          <a:solidFill>
                            <a:srgbClr val="000000"/>
                          </a:solidFill>
                          <a:latin typeface="Samsung One"/>
                        </a:defRPr>
                      </a:pPr>
                      <a:r>
                        <a:rPr sz="1100"/>
                        <a:t>46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28620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00000"/>
                          </a:solidFill>
                          <a:latin typeface="Samsung One"/>
                        </a:defRPr>
                      </a:pPr>
                      <a:r>
                        <a:rPr sz="1100"/>
                        <a:t>14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00000"/>
                          </a:solidFill>
                          <a:latin typeface="Samsung One"/>
                        </a:defRPr>
                      </a:pPr>
                      <a:r>
                        <a:rPr sz="1100"/>
                        <a:t>Smart Home Sounds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00000"/>
                          </a:solidFill>
                          <a:latin typeface="Samsung One"/>
                        </a:defRPr>
                      </a:pPr>
                      <a:r>
                        <a:rPr sz="1100"/>
                        <a:t>154K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00">
                          <a:solidFill>
                            <a:srgbClr val="000000"/>
                          </a:solidFill>
                          <a:latin typeface="Samsung One"/>
                        </a:defRPr>
                      </a:pPr>
                      <a:r>
                        <a:rPr sz="1100"/>
                        <a:t>5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00" b="1">
                          <a:solidFill>
                            <a:srgbClr val="1428A0"/>
                          </a:solidFill>
                          <a:latin typeface="Samsung One"/>
                        </a:defRPr>
                      </a:pPr>
                      <a:r>
                        <a:rPr sz="1100"/>
                        <a:t>16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00">
                          <a:solidFill>
                            <a:srgbClr val="000000"/>
                          </a:solidFill>
                          <a:latin typeface="Samsung One"/>
                        </a:defRPr>
                      </a:pPr>
                      <a:r>
                        <a:rPr sz="1100" dirty="0"/>
                        <a:t>460K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328620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00000"/>
                          </a:solidFill>
                          <a:latin typeface="Samsung One"/>
                        </a:defRPr>
                      </a:pPr>
                      <a:r>
                        <a:rPr sz="1100"/>
                        <a:t>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00000"/>
                          </a:solidFill>
                          <a:latin typeface="Samsung One"/>
                        </a:defRPr>
                      </a:pPr>
                      <a:r>
                        <a:rPr sz="1100"/>
                        <a:t>B The Installer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00000"/>
                          </a:solidFill>
                          <a:latin typeface="Samsung One"/>
                        </a:defRPr>
                      </a:pPr>
                      <a:r>
                        <a:rPr sz="1100"/>
                        <a:t>276K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00">
                          <a:solidFill>
                            <a:srgbClr val="000000"/>
                          </a:solidFill>
                          <a:latin typeface="Samsung One"/>
                        </a:defRPr>
                      </a:pPr>
                      <a:r>
                        <a:rPr sz="1100"/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00" b="1">
                          <a:solidFill>
                            <a:srgbClr val="1428A0"/>
                          </a:solidFill>
                          <a:latin typeface="Samsung One"/>
                        </a:defRPr>
                      </a:pPr>
                      <a:r>
                        <a:rPr sz="1100"/>
                        <a:t>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00">
                          <a:solidFill>
                            <a:srgbClr val="000000"/>
                          </a:solidFill>
                          <a:latin typeface="Samsung One"/>
                        </a:defRPr>
                      </a:pPr>
                      <a:r>
                        <a:rPr sz="1100" dirty="0"/>
                        <a:t>125K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7498079" y="1051560"/>
          <a:ext cx="4389120" cy="2926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7" name="Rectangle 6"/>
          <p:cNvSpPr/>
          <p:nvPr/>
        </p:nvSpPr>
        <p:spPr>
          <a:xfrm>
            <a:off x="7498079" y="4160520"/>
            <a:ext cx="4389120" cy="868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498079" y="4160520"/>
            <a:ext cx="50800" cy="868680"/>
          </a:xfrm>
          <a:prstGeom prst="rect">
            <a:avLst/>
          </a:prstGeom>
          <a:solidFill>
            <a:srgbClr val="142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635239" y="4233672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428A0"/>
                </a:solidFill>
                <a:latin typeface="Samsung Sharp Sans"/>
              </a:rPr>
              <a:t>RTINGS &amp; Digital Trends Lead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35239" y="4480560"/>
            <a:ext cx="4114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666666"/>
                </a:solidFill>
                <a:latin typeface="Samsung One"/>
              </a:rPr>
              <a:t>The two largest tech review outlets combine for 216 Mini-LED citations across 14 videos.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98079" y="5120640"/>
            <a:ext cx="4389120" cy="868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498079" y="5120640"/>
            <a:ext cx="50800" cy="868680"/>
          </a:xfrm>
          <a:prstGeom prst="rect">
            <a:avLst/>
          </a:prstGeom>
          <a:solidFill>
            <a:srgbClr val="142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635239" y="5193792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428A0"/>
                </a:solidFill>
                <a:latin typeface="Samsung Sharp Sans"/>
              </a:rPr>
              <a:t>Small Channels Punch Above Weight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35239" y="5440680"/>
            <a:ext cx="4114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666666"/>
                </a:solidFill>
                <a:latin typeface="Samsung One"/>
              </a:rPr>
              <a:t>ForeMost Picks (2.9K subs) earns 69 citations from a single video, outperforming Jon Rettinger (1.65M subs, 47 citations).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498079" y="6080760"/>
            <a:ext cx="4389120" cy="868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7498079" y="6080760"/>
            <a:ext cx="50800" cy="868680"/>
          </a:xfrm>
          <a:prstGeom prst="rect">
            <a:avLst/>
          </a:prstGeom>
          <a:solidFill>
            <a:srgbClr val="142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635239" y="6153912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428A0"/>
                </a:solidFill>
                <a:latin typeface="Samsung Sharp Sans"/>
              </a:rPr>
              <a:t>Explainer Channels Dominate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35239" y="6400800"/>
            <a:ext cx="4114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666666"/>
                </a:solidFill>
                <a:latin typeface="Samsung One"/>
              </a:rPr>
              <a:t>Explaining Tech Like You're Five ranks #3 with 102 citations from just 2 videos. AI favors accessible Mini-LED explainers.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42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7315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Samsung Sharp Sans"/>
              </a:rPr>
              <a:t>Most Cited Videos</a:t>
            </a:r>
            <a:r>
              <a:rPr sz="1400">
                <a:solidFill>
                  <a:srgbClr val="CCCCFF"/>
                </a:solidFill>
                <a:latin typeface="Samsung One"/>
              </a:rPr>
              <a:t>  Top Mini-LED YouTube Content Referenced by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0" y="228600"/>
            <a:ext cx="2743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DDDDFF"/>
                </a:solidFill>
                <a:latin typeface="Samsung One"/>
              </a:rPr>
              <a:t>YouTube Citations | Feb 2026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56888116"/>
              </p:ext>
            </p:extLst>
          </p:nvPr>
        </p:nvGraphicFramePr>
        <p:xfrm>
          <a:off x="396240" y="928838"/>
          <a:ext cx="114300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716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538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6410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3042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57175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Samsung One"/>
                        </a:defRPr>
                      </a:pPr>
                      <a:r>
                        <a:rPr sz="1050" dirty="0"/>
                        <a:t>#</a:t>
                      </a:r>
                    </a:p>
                  </a:txBody>
                  <a:tcPr>
                    <a:solidFill>
                      <a:srgbClr val="1428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Samsung One"/>
                        </a:defRPr>
                      </a:pPr>
                      <a:r>
                        <a:rPr sz="1050"/>
                        <a:t>Title</a:t>
                      </a:r>
                    </a:p>
                  </a:txBody>
                  <a:tcPr>
                    <a:solidFill>
                      <a:srgbClr val="1428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Samsung One"/>
                        </a:defRPr>
                      </a:pPr>
                      <a:r>
                        <a:rPr sz="1050"/>
                        <a:t>Channel</a:t>
                      </a:r>
                    </a:p>
                  </a:txBody>
                  <a:tcPr>
                    <a:solidFill>
                      <a:srgbClr val="1428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Samsung One"/>
                        </a:defRPr>
                      </a:pPr>
                      <a:r>
                        <a:rPr sz="1050"/>
                        <a:t>Citations</a:t>
                      </a:r>
                    </a:p>
                  </a:txBody>
                  <a:tcPr>
                    <a:solidFill>
                      <a:srgbClr val="1428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Samsung One"/>
                        </a:defRPr>
                      </a:pPr>
                      <a:r>
                        <a:rPr sz="1050"/>
                        <a:t>Views</a:t>
                      </a:r>
                    </a:p>
                  </a:txBody>
                  <a:tcPr>
                    <a:solidFill>
                      <a:srgbClr val="1428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Samsung One"/>
                        </a:defRPr>
                      </a:pPr>
                      <a:r>
                        <a:rPr sz="1050"/>
                        <a:t>Published</a:t>
                      </a:r>
                    </a:p>
                  </a:txBody>
                  <a:tcPr>
                    <a:solidFill>
                      <a:srgbClr val="1428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7175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00000"/>
                          </a:solidFill>
                          <a:latin typeface="Samsung One"/>
                        </a:defRPr>
                      </a:pPr>
                      <a:r>
                        <a:rPr sz="1050" dirty="0"/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00000"/>
                          </a:solidFill>
                          <a:latin typeface="Samsung One"/>
                        </a:defRPr>
                      </a:pPr>
                      <a:r>
                        <a:rPr sz="1050"/>
                        <a:t>The Best TVs To Buy in 2025 | OLED, QLED, Mini LED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00000"/>
                          </a:solidFill>
                          <a:latin typeface="Samsung One"/>
                        </a:defRPr>
                      </a:pPr>
                      <a:r>
                        <a:rPr sz="1050"/>
                        <a:t>RTINGS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00" b="1">
                          <a:solidFill>
                            <a:srgbClr val="1428A0"/>
                          </a:solidFill>
                          <a:latin typeface="Samsung One"/>
                        </a:defRPr>
                      </a:pPr>
                      <a:r>
                        <a:rPr sz="1050"/>
                        <a:t>93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00">
                          <a:solidFill>
                            <a:srgbClr val="000000"/>
                          </a:solidFill>
                          <a:latin typeface="Samsung One"/>
                        </a:defRPr>
                      </a:pPr>
                      <a:r>
                        <a:rPr sz="1050"/>
                        <a:t>167K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00000"/>
                          </a:solidFill>
                          <a:latin typeface="Samsung One"/>
                        </a:defRPr>
                      </a:pPr>
                      <a:r>
                        <a:rPr sz="1050" dirty="0"/>
                        <a:t>Oct 2025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7175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00000"/>
                          </a:solidFill>
                          <a:latin typeface="Samsung One"/>
                        </a:defRPr>
                      </a:pPr>
                      <a:r>
                        <a:rPr sz="1050" dirty="0"/>
                        <a:t>2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00000"/>
                          </a:solidFill>
                          <a:latin typeface="Samsung One"/>
                        </a:defRPr>
                      </a:pPr>
                      <a:r>
                        <a:rPr sz="1050" dirty="0"/>
                        <a:t>OLED, QLED, or Mini-LED? Which TV to Buy in 2025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00000"/>
                          </a:solidFill>
                          <a:latin typeface="Samsung One"/>
                        </a:defRPr>
                      </a:pPr>
                      <a:r>
                        <a:rPr sz="1050"/>
                        <a:t>Digital Trends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00" b="1">
                          <a:solidFill>
                            <a:srgbClr val="1428A0"/>
                          </a:solidFill>
                          <a:latin typeface="Samsung One"/>
                        </a:defRPr>
                      </a:pPr>
                      <a:r>
                        <a:rPr sz="1050"/>
                        <a:t>91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00">
                          <a:solidFill>
                            <a:srgbClr val="000000"/>
                          </a:solidFill>
                          <a:latin typeface="Samsung One"/>
                        </a:defRPr>
                      </a:pPr>
                      <a:r>
                        <a:rPr sz="1050"/>
                        <a:t>2.87M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00000"/>
                          </a:solidFill>
                          <a:latin typeface="Samsung One"/>
                        </a:defRPr>
                      </a:pPr>
                      <a:r>
                        <a:rPr sz="1050"/>
                        <a:t>Apr 2025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7175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00000"/>
                          </a:solidFill>
                          <a:latin typeface="Samsung One"/>
                        </a:defRPr>
                      </a:pPr>
                      <a:r>
                        <a:rPr sz="1050"/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00000"/>
                          </a:solidFill>
                          <a:latin typeface="Samsung One"/>
                        </a:defRPr>
                      </a:pPr>
                      <a:r>
                        <a:rPr sz="1050"/>
                        <a:t>Mini LED vs OLED Monitors (don't waste your money)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00000"/>
                          </a:solidFill>
                          <a:latin typeface="Samsung One"/>
                        </a:defRPr>
                      </a:pPr>
                      <a:r>
                        <a:rPr sz="1050"/>
                        <a:t>Switch &amp; Click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00" b="1">
                          <a:solidFill>
                            <a:srgbClr val="1428A0"/>
                          </a:solidFill>
                          <a:latin typeface="Samsung One"/>
                        </a:defRPr>
                      </a:pPr>
                      <a:r>
                        <a:rPr sz="1050"/>
                        <a:t>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00">
                          <a:solidFill>
                            <a:srgbClr val="000000"/>
                          </a:solidFill>
                          <a:latin typeface="Samsung One"/>
                        </a:defRPr>
                      </a:pPr>
                      <a:r>
                        <a:rPr sz="1050"/>
                        <a:t>417K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00000"/>
                          </a:solidFill>
                          <a:latin typeface="Samsung One"/>
                        </a:defRPr>
                      </a:pPr>
                      <a:r>
                        <a:rPr sz="1050"/>
                        <a:t>Nov 2025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7175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00000"/>
                          </a:solidFill>
                          <a:latin typeface="Samsung One"/>
                        </a:defRPr>
                      </a:pPr>
                      <a:r>
                        <a:rPr sz="1050"/>
                        <a:t>4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00000"/>
                          </a:solidFill>
                          <a:latin typeface="Samsung One"/>
                        </a:defRPr>
                      </a:pPr>
                      <a:r>
                        <a:rPr sz="1050" dirty="0"/>
                        <a:t>OLED vs QLED vs Mini LED in 2026 | Best Choice!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00000"/>
                          </a:solidFill>
                          <a:latin typeface="Samsung One"/>
                        </a:defRPr>
                      </a:pPr>
                      <a:r>
                        <a:rPr sz="1050"/>
                        <a:t>ForeMost Picks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00" b="1">
                          <a:solidFill>
                            <a:srgbClr val="1428A0"/>
                          </a:solidFill>
                          <a:latin typeface="Samsung One"/>
                        </a:defRPr>
                      </a:pPr>
                      <a:r>
                        <a:rPr sz="1050"/>
                        <a:t>69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00">
                          <a:solidFill>
                            <a:srgbClr val="000000"/>
                          </a:solidFill>
                          <a:latin typeface="Samsung One"/>
                        </a:defRPr>
                      </a:pPr>
                      <a:r>
                        <a:rPr sz="1050"/>
                        <a:t>10.6K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00000"/>
                          </a:solidFill>
                          <a:latin typeface="Samsung One"/>
                        </a:defRPr>
                      </a:pPr>
                      <a:r>
                        <a:rPr sz="1050"/>
                        <a:t>Jan 2026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7175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00000"/>
                          </a:solidFill>
                          <a:latin typeface="Samsung One"/>
                        </a:defRPr>
                      </a:pPr>
                      <a:r>
                        <a:rPr sz="1050"/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00000"/>
                          </a:solidFill>
                          <a:latin typeface="Samsung One"/>
                        </a:defRPr>
                      </a:pPr>
                      <a:r>
                        <a:rPr sz="1050" dirty="0"/>
                        <a:t>OLED vs QLED: Don't Get Tricked in the Store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00000"/>
                          </a:solidFill>
                          <a:latin typeface="Samsung One"/>
                        </a:defRPr>
                      </a:pPr>
                      <a:r>
                        <a:rPr sz="1050"/>
                        <a:t>Explain Tech x5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00" b="1">
                          <a:solidFill>
                            <a:srgbClr val="1428A0"/>
                          </a:solidFill>
                          <a:latin typeface="Samsung One"/>
                        </a:defRPr>
                      </a:pPr>
                      <a:r>
                        <a:rPr sz="1050"/>
                        <a:t>63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00">
                          <a:solidFill>
                            <a:srgbClr val="000000"/>
                          </a:solidFill>
                          <a:latin typeface="Samsung One"/>
                        </a:defRPr>
                      </a:pPr>
                      <a:r>
                        <a:rPr sz="1050"/>
                        <a:t>834K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00000"/>
                          </a:solidFill>
                          <a:latin typeface="Samsung One"/>
                        </a:defRPr>
                      </a:pPr>
                      <a:r>
                        <a:rPr sz="1050"/>
                        <a:t>Nov 2025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7175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00000"/>
                          </a:solidFill>
                          <a:latin typeface="Samsung One"/>
                        </a:defRPr>
                      </a:pPr>
                      <a:r>
                        <a:rPr sz="1050"/>
                        <a:t>6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00000"/>
                          </a:solidFill>
                          <a:latin typeface="Samsung One"/>
                        </a:defRPr>
                      </a:pPr>
                      <a:r>
                        <a:rPr sz="1050"/>
                        <a:t>Mini-LED vs OLED — Which One Should YOU Buy?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00000"/>
                          </a:solidFill>
                          <a:latin typeface="Samsung One"/>
                        </a:defRPr>
                      </a:pPr>
                      <a:r>
                        <a:rPr sz="1050"/>
                        <a:t>Explain Tech x5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00" b="1">
                          <a:solidFill>
                            <a:srgbClr val="1428A0"/>
                          </a:solidFill>
                          <a:latin typeface="Samsung One"/>
                        </a:defRPr>
                      </a:pPr>
                      <a:r>
                        <a:rPr sz="1050"/>
                        <a:t>39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00">
                          <a:solidFill>
                            <a:srgbClr val="000000"/>
                          </a:solidFill>
                          <a:latin typeface="Samsung One"/>
                        </a:defRPr>
                      </a:pPr>
                      <a:r>
                        <a:rPr sz="1050"/>
                        <a:t>66.9K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00000"/>
                          </a:solidFill>
                          <a:latin typeface="Samsung One"/>
                        </a:defRPr>
                      </a:pPr>
                      <a:r>
                        <a:rPr sz="1050"/>
                        <a:t>Dec 2025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7175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00000"/>
                          </a:solidFill>
                          <a:latin typeface="Samsung One"/>
                        </a:defRPr>
                      </a:pPr>
                      <a:r>
                        <a:rPr sz="1050"/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00000"/>
                          </a:solidFill>
                          <a:latin typeface="Samsung One"/>
                        </a:defRPr>
                      </a:pPr>
                      <a:r>
                        <a:rPr sz="1050"/>
                        <a:t>The new king for 2026! QLED vs Mini-LED TVs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00000"/>
                          </a:solidFill>
                          <a:latin typeface="Samsung One"/>
                        </a:defRPr>
                      </a:pPr>
                      <a:r>
                        <a:rPr sz="1050"/>
                        <a:t>Viewing Angle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00" b="1">
                          <a:solidFill>
                            <a:srgbClr val="1428A0"/>
                          </a:solidFill>
                          <a:latin typeface="Samsung One"/>
                        </a:defRPr>
                      </a:pPr>
                      <a:r>
                        <a:rPr sz="1050"/>
                        <a:t>39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00">
                          <a:solidFill>
                            <a:srgbClr val="000000"/>
                          </a:solidFill>
                          <a:latin typeface="Samsung One"/>
                        </a:defRPr>
                      </a:pPr>
                      <a:r>
                        <a:rPr sz="1050"/>
                        <a:t>402K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00000"/>
                          </a:solidFill>
                          <a:latin typeface="Samsung One"/>
                        </a:defRPr>
                      </a:pPr>
                      <a:r>
                        <a:rPr sz="1050"/>
                        <a:t>Oct 2025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57175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00000"/>
                          </a:solidFill>
                          <a:latin typeface="Samsung One"/>
                        </a:defRPr>
                      </a:pPr>
                      <a:r>
                        <a:rPr sz="1050"/>
                        <a:t>8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00000"/>
                          </a:solidFill>
                          <a:latin typeface="Samsung One"/>
                        </a:defRPr>
                      </a:pPr>
                      <a:r>
                        <a:rPr sz="1050"/>
                        <a:t>OLED Vs Mini LED - Pros &amp; Cons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00000"/>
                          </a:solidFill>
                          <a:latin typeface="Samsung One"/>
                        </a:defRPr>
                      </a:pPr>
                      <a:r>
                        <a:rPr sz="1050" dirty="0"/>
                        <a:t>Toasty Bros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00" b="1">
                          <a:solidFill>
                            <a:srgbClr val="1428A0"/>
                          </a:solidFill>
                          <a:latin typeface="Samsung One"/>
                        </a:defRPr>
                      </a:pPr>
                      <a:r>
                        <a:rPr sz="1050"/>
                        <a:t>29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00">
                          <a:solidFill>
                            <a:srgbClr val="000000"/>
                          </a:solidFill>
                          <a:latin typeface="Samsung One"/>
                        </a:defRPr>
                      </a:pPr>
                      <a:r>
                        <a:rPr sz="1050"/>
                        <a:t>118K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00000"/>
                          </a:solidFill>
                          <a:latin typeface="Samsung One"/>
                        </a:defRPr>
                      </a:pPr>
                      <a:r>
                        <a:rPr sz="1050"/>
                        <a:t>Nov 2025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57175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00000"/>
                          </a:solidFill>
                          <a:latin typeface="Samsung One"/>
                        </a:defRPr>
                      </a:pPr>
                      <a:r>
                        <a:rPr sz="1050"/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00000"/>
                          </a:solidFill>
                          <a:latin typeface="Samsung One"/>
                        </a:defRPr>
                      </a:pPr>
                      <a:r>
                        <a:rPr sz="1050"/>
                        <a:t>Did you buy the wrong TV? OLED vs Mini LED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00000"/>
                          </a:solidFill>
                          <a:latin typeface="Samsung One"/>
                        </a:defRPr>
                      </a:pPr>
                      <a:r>
                        <a:rPr sz="1050"/>
                        <a:t>Jon Rettinger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00" b="1">
                          <a:solidFill>
                            <a:srgbClr val="1428A0"/>
                          </a:solidFill>
                          <a:latin typeface="Samsung One"/>
                        </a:defRPr>
                      </a:pPr>
                      <a:r>
                        <a:rPr sz="1050"/>
                        <a:t>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00">
                          <a:solidFill>
                            <a:srgbClr val="000000"/>
                          </a:solidFill>
                          <a:latin typeface="Samsung One"/>
                        </a:defRPr>
                      </a:pPr>
                      <a:r>
                        <a:rPr sz="1050"/>
                        <a:t>428K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00000"/>
                          </a:solidFill>
                          <a:latin typeface="Samsung One"/>
                        </a:defRPr>
                      </a:pPr>
                      <a:r>
                        <a:rPr sz="1050"/>
                        <a:t>Nov 2025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57175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00000"/>
                          </a:solidFill>
                          <a:latin typeface="Samsung One"/>
                        </a:defRPr>
                      </a:pPr>
                      <a:r>
                        <a:rPr sz="1050"/>
                        <a:t>10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00000"/>
                          </a:solidFill>
                          <a:latin typeface="Samsung One"/>
                        </a:defRPr>
                      </a:pPr>
                      <a:r>
                        <a:rPr sz="1050"/>
                        <a:t>Mini LED vs OLED TVs 2026! Don't make a mistake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00000"/>
                          </a:solidFill>
                          <a:latin typeface="Samsung One"/>
                        </a:defRPr>
                      </a:pPr>
                      <a:r>
                        <a:rPr sz="1050"/>
                        <a:t>Viewing Angle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00" b="1">
                          <a:solidFill>
                            <a:srgbClr val="1428A0"/>
                          </a:solidFill>
                          <a:latin typeface="Samsung One"/>
                        </a:defRPr>
                      </a:pPr>
                      <a:r>
                        <a:rPr sz="1050"/>
                        <a:t>23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00">
                          <a:solidFill>
                            <a:srgbClr val="000000"/>
                          </a:solidFill>
                          <a:latin typeface="Samsung One"/>
                        </a:defRPr>
                      </a:pPr>
                      <a:r>
                        <a:rPr sz="1050"/>
                        <a:t>488K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00000"/>
                          </a:solidFill>
                          <a:latin typeface="Samsung One"/>
                        </a:defRPr>
                      </a:pPr>
                      <a:r>
                        <a:rPr sz="1050"/>
                        <a:t>Jul 2025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57175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00000"/>
                          </a:solidFill>
                          <a:latin typeface="Samsung One"/>
                        </a:defRPr>
                      </a:pPr>
                      <a:r>
                        <a:rPr sz="1050"/>
                        <a:t>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00000"/>
                          </a:solidFill>
                          <a:latin typeface="Samsung One"/>
                        </a:defRPr>
                      </a:pPr>
                      <a:r>
                        <a:rPr sz="1050"/>
                        <a:t>Best TVs of 2025 (OLED &amp; Mini LED)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00000"/>
                          </a:solidFill>
                          <a:latin typeface="Samsung One"/>
                        </a:defRPr>
                      </a:pPr>
                      <a:r>
                        <a:rPr sz="1050"/>
                        <a:t>Display Guy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00" b="1">
                          <a:solidFill>
                            <a:srgbClr val="1428A0"/>
                          </a:solidFill>
                          <a:latin typeface="Samsung One"/>
                        </a:defRPr>
                      </a:pPr>
                      <a:r>
                        <a:rPr sz="1050"/>
                        <a:t>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00">
                          <a:solidFill>
                            <a:srgbClr val="000000"/>
                          </a:solidFill>
                          <a:latin typeface="Samsung One"/>
                        </a:defRPr>
                      </a:pPr>
                      <a:r>
                        <a:rPr sz="1050"/>
                        <a:t>8.4K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00000"/>
                          </a:solidFill>
                          <a:latin typeface="Samsung One"/>
                        </a:defRPr>
                      </a:pPr>
                      <a:r>
                        <a:rPr sz="1050"/>
                        <a:t>Dec 2025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57175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00000"/>
                          </a:solidFill>
                          <a:latin typeface="Samsung One"/>
                        </a:defRPr>
                      </a:pPr>
                      <a:r>
                        <a:rPr sz="1050"/>
                        <a:t>12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00000"/>
                          </a:solidFill>
                          <a:latin typeface="Samsung One"/>
                        </a:defRPr>
                      </a:pPr>
                      <a:r>
                        <a:rPr sz="1050"/>
                        <a:t>Mini LED vs Standard LED TVs — BIG Difference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00000"/>
                          </a:solidFill>
                          <a:latin typeface="Samsung One"/>
                        </a:defRPr>
                      </a:pPr>
                      <a:r>
                        <a:rPr sz="1050"/>
                        <a:t>all things tech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00" b="1">
                          <a:solidFill>
                            <a:srgbClr val="1428A0"/>
                          </a:solidFill>
                          <a:latin typeface="Samsung One"/>
                        </a:defRPr>
                      </a:pPr>
                      <a:r>
                        <a:rPr sz="1050" dirty="0"/>
                        <a:t>21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00">
                          <a:solidFill>
                            <a:srgbClr val="000000"/>
                          </a:solidFill>
                          <a:latin typeface="Samsung One"/>
                        </a:defRPr>
                      </a:pPr>
                      <a:r>
                        <a:rPr sz="1050"/>
                        <a:t>435K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00000"/>
                          </a:solidFill>
                          <a:latin typeface="Samsung One"/>
                        </a:defRPr>
                      </a:pPr>
                      <a:r>
                        <a:rPr sz="1050"/>
                        <a:t>Nov 2023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57175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00000"/>
                          </a:solidFill>
                          <a:latin typeface="Samsung One"/>
                        </a:defRPr>
                      </a:pPr>
                      <a:r>
                        <a:rPr sz="1050"/>
                        <a:t>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00000"/>
                          </a:solidFill>
                          <a:latin typeface="Samsung One"/>
                        </a:defRPr>
                      </a:pPr>
                      <a:r>
                        <a:rPr sz="1050"/>
                        <a:t>Best Mini LED TVs 2026 - Buying Guide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00000"/>
                          </a:solidFill>
                          <a:latin typeface="Samsung One"/>
                        </a:defRPr>
                      </a:pPr>
                      <a:r>
                        <a:rPr sz="1050"/>
                        <a:t>Blumoo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00" b="1">
                          <a:solidFill>
                            <a:srgbClr val="1428A0"/>
                          </a:solidFill>
                          <a:latin typeface="Samsung One"/>
                        </a:defRPr>
                      </a:pPr>
                      <a:r>
                        <a:rPr sz="1050"/>
                        <a:t>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00">
                          <a:solidFill>
                            <a:srgbClr val="000000"/>
                          </a:solidFill>
                          <a:latin typeface="Samsung One"/>
                        </a:defRPr>
                      </a:pPr>
                      <a:r>
                        <a:rPr sz="1050"/>
                        <a:t>46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00000"/>
                          </a:solidFill>
                          <a:latin typeface="Samsung One"/>
                        </a:defRPr>
                      </a:pPr>
                      <a:r>
                        <a:rPr sz="1050"/>
                        <a:t>Jan 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57175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00000"/>
                          </a:solidFill>
                          <a:latin typeface="Samsung One"/>
                        </a:defRPr>
                      </a:pPr>
                      <a:r>
                        <a:rPr sz="1050"/>
                        <a:t>14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00000"/>
                          </a:solidFill>
                          <a:latin typeface="Samsung One"/>
                        </a:defRPr>
                      </a:pPr>
                      <a:r>
                        <a:rPr sz="1050"/>
                        <a:t>OLED vs QLED vs Mini-LED: Which TV in 2026?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00000"/>
                          </a:solidFill>
                          <a:latin typeface="Samsung One"/>
                        </a:defRPr>
                      </a:pPr>
                      <a:r>
                        <a:rPr sz="1050"/>
                        <a:t>New Gen Home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00" b="1">
                          <a:solidFill>
                            <a:srgbClr val="1428A0"/>
                          </a:solidFill>
                          <a:latin typeface="Samsung One"/>
                        </a:defRPr>
                      </a:pPr>
                      <a:r>
                        <a:rPr sz="1050"/>
                        <a:t>16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00">
                          <a:solidFill>
                            <a:srgbClr val="000000"/>
                          </a:solidFill>
                          <a:latin typeface="Samsung One"/>
                        </a:defRPr>
                      </a:pPr>
                      <a:r>
                        <a:rPr sz="1050" dirty="0"/>
                        <a:t>2.7K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00000"/>
                          </a:solidFill>
                          <a:latin typeface="Samsung One"/>
                        </a:defRPr>
                      </a:pPr>
                      <a:r>
                        <a:rPr sz="1050"/>
                        <a:t>Jan 2026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57175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00000"/>
                          </a:solidFill>
                          <a:latin typeface="Samsung One"/>
                        </a:defRPr>
                      </a:pPr>
                      <a:r>
                        <a:rPr sz="1050"/>
                        <a:t>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00000"/>
                          </a:solidFill>
                          <a:latin typeface="Samsung One"/>
                        </a:defRPr>
                      </a:pPr>
                      <a:r>
                        <a:rPr sz="1050"/>
                        <a:t>Best Mini LED TVs (End of Year 2025)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00000"/>
                          </a:solidFill>
                          <a:latin typeface="Samsung One"/>
                        </a:defRPr>
                      </a:pPr>
                      <a:r>
                        <a:rPr sz="1050"/>
                        <a:t>Royalty Consumer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00" b="1">
                          <a:solidFill>
                            <a:srgbClr val="1428A0"/>
                          </a:solidFill>
                          <a:latin typeface="Samsung One"/>
                        </a:defRPr>
                      </a:pPr>
                      <a:r>
                        <a:rPr sz="1050"/>
                        <a:t>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00">
                          <a:solidFill>
                            <a:srgbClr val="000000"/>
                          </a:solidFill>
                          <a:latin typeface="Samsung One"/>
                        </a:defRPr>
                      </a:pPr>
                      <a:r>
                        <a:rPr sz="1050" dirty="0"/>
                        <a:t>61.7K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00000"/>
                          </a:solidFill>
                          <a:latin typeface="Samsung One"/>
                        </a:defRPr>
                      </a:pPr>
                      <a:r>
                        <a:rPr sz="1050" dirty="0"/>
                        <a:t>Sep 2025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365760" y="5349240"/>
            <a:ext cx="3657600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65760" y="5349240"/>
            <a:ext cx="50800" cy="1005840"/>
          </a:xfrm>
          <a:prstGeom prst="rect">
            <a:avLst/>
          </a:prstGeom>
          <a:solidFill>
            <a:srgbClr val="142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5422392"/>
            <a:ext cx="3383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 dirty="0">
                <a:solidFill>
                  <a:srgbClr val="1428A0"/>
                </a:solidFill>
                <a:latin typeface="Samsung Sharp Sans"/>
              </a:rPr>
              <a:t>Comparison Format Dominates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5669280"/>
            <a:ext cx="3383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666666"/>
                </a:solidFill>
                <a:latin typeface="Samsung One"/>
              </a:rPr>
              <a:t>11 of 15 top videos are direct comparisons (OLED vs Mini-LED, QLED vs Mini-LED). AI overwhelmingly favors head-to-head content.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51960" y="5349240"/>
            <a:ext cx="3657600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251960" y="5349240"/>
            <a:ext cx="50800" cy="1005840"/>
          </a:xfrm>
          <a:prstGeom prst="rect">
            <a:avLst/>
          </a:prstGeom>
          <a:solidFill>
            <a:srgbClr val="142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389120" y="5422392"/>
            <a:ext cx="3383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428A0"/>
                </a:solidFill>
                <a:latin typeface="Samsung Sharp Sans"/>
              </a:rPr>
              <a:t>Viral Reach + AI Citations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0" y="5669280"/>
            <a:ext cx="3383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666666"/>
                </a:solidFill>
                <a:latin typeface="Samsung One"/>
              </a:rPr>
              <a:t>Digital Trends' guide has 2.87M views AND 91 citations. High-production comparison content earns both audience reach and AI trust.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38160" y="5349240"/>
            <a:ext cx="3657600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138160" y="5349240"/>
            <a:ext cx="50800" cy="1005840"/>
          </a:xfrm>
          <a:prstGeom prst="rect">
            <a:avLst/>
          </a:prstGeom>
          <a:solidFill>
            <a:srgbClr val="142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75320" y="5422392"/>
            <a:ext cx="3383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428A0"/>
                </a:solidFill>
                <a:latin typeface="Samsung Sharp Sans"/>
              </a:rPr>
              <a:t>Evergreen Content Stays Cited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20" y="5669280"/>
            <a:ext cx="3383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666666"/>
                </a:solidFill>
                <a:latin typeface="Samsung One"/>
              </a:rPr>
              <a:t>all things tech's 2023 explainer still earns 21 citations in 2026. Well-structured Mini-LED educational content maintains AI relevance for years.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42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7315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Samsung Sharp Sans"/>
              </a:rPr>
              <a:t>Timestamp Deep Dive</a:t>
            </a:r>
            <a:r>
              <a:rPr sz="1400">
                <a:solidFill>
                  <a:srgbClr val="CCCCFF"/>
                </a:solidFill>
                <a:latin typeface="Samsung One"/>
              </a:rPr>
              <a:t>  AI Models Cite Specific Mini-LED Video Moments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0" y="228600"/>
            <a:ext cx="2743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DDDDFF"/>
                </a:solidFill>
                <a:latin typeface="Samsung One"/>
              </a:rPr>
              <a:t>YouTube Citations | Feb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51560"/>
            <a:ext cx="11247120" cy="502920"/>
          </a:xfrm>
          <a:prstGeom prst="rect">
            <a:avLst/>
          </a:prstGeom>
          <a:solidFill>
            <a:srgbClr val="142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Samsung Sharp Sans"/>
              </a:rPr>
              <a:t>12 Mini-LED videos cited with specific timestamps — AI models pinpoint exact moments where Mini-LED technology is explained or compared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737360"/>
            <a:ext cx="5486400" cy="1280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1737360"/>
            <a:ext cx="50800" cy="128016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66928" y="1847088"/>
            <a:ext cx="548640" cy="27432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Samsung Sharp Sans"/>
              </a:rPr>
              <a:t>0:13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1810512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000000"/>
                </a:solidFill>
                <a:latin typeface="Samsung One"/>
              </a:rPr>
              <a:t>Mini-LED vs OLED — Which One Should YOU Buy?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2029968"/>
            <a:ext cx="4572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66666"/>
                </a:solidFill>
                <a:latin typeface="Samsung One"/>
              </a:rPr>
              <a:t>Explaining Tech Like You're Five  ·  39 citations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267712"/>
            <a:ext cx="5166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i="1">
                <a:solidFill>
                  <a:srgbClr val="555555"/>
                </a:solidFill>
                <a:latin typeface="Samsung One"/>
              </a:rPr>
              <a:t>"Most shoppers can't even tell which is which until someone points out the differences."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1737360"/>
            <a:ext cx="5486400" cy="1280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217920" y="1737360"/>
            <a:ext cx="50800" cy="128016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327648" y="1847088"/>
            <a:ext cx="548640" cy="27432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Samsung Sharp Sans"/>
              </a:rPr>
              <a:t>0:36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95160" y="1810512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000000"/>
                </a:solidFill>
                <a:latin typeface="Samsung One"/>
              </a:rPr>
              <a:t>Did you buy the wrong TV? OLED vs Mini LED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95160" y="2029968"/>
            <a:ext cx="4572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66666"/>
                </a:solidFill>
                <a:latin typeface="Samsung One"/>
              </a:rPr>
              <a:t>Jon Rettinger  ·  24 citations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267712"/>
            <a:ext cx="5166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i="1">
                <a:solidFill>
                  <a:srgbClr val="555555"/>
                </a:solidFill>
                <a:latin typeface="Samsung One"/>
              </a:rPr>
              <a:t>"Movie nights, Rams games with every light on, gaming sessions that have gone way too late."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108960"/>
            <a:ext cx="5486400" cy="1280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457200" y="3108960"/>
            <a:ext cx="50800" cy="128016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66928" y="3218688"/>
            <a:ext cx="548640" cy="27432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Samsung Sharp Sans"/>
              </a:rPr>
              <a:t>7:27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34440" y="3182112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000000"/>
                </a:solidFill>
                <a:latin typeface="Samsung One"/>
              </a:rPr>
              <a:t>Best TVs of 2025 (OLED &amp; Mini LED)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34440" y="3401568"/>
            <a:ext cx="4572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66666"/>
                </a:solidFill>
                <a:latin typeface="Samsung One"/>
              </a:rPr>
              <a:t>The Display Guy  ·  22 citations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3639312"/>
            <a:ext cx="5166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i="1">
                <a:solidFill>
                  <a:srgbClr val="555555"/>
                </a:solidFill>
                <a:latin typeface="Samsung One"/>
              </a:rPr>
              <a:t>"The best mini-LED TV of 2025 has got to go to the Sony Bravia 9."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17920" y="3108960"/>
            <a:ext cx="5486400" cy="1280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217920" y="3108960"/>
            <a:ext cx="50800" cy="128016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327648" y="3218688"/>
            <a:ext cx="548640" cy="27432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Samsung Sharp Sans"/>
              </a:rPr>
              <a:t>1:07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95160" y="3182112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000000"/>
                </a:solidFill>
                <a:latin typeface="Samsung One"/>
              </a:rPr>
              <a:t>Mini LED vs Standard LED TVs — BIG Difference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95160" y="3401568"/>
            <a:ext cx="4572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66666"/>
                </a:solidFill>
                <a:latin typeface="Samsung One"/>
              </a:rPr>
              <a:t>all things tech  ·  21 citations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3639312"/>
            <a:ext cx="5166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i="1">
                <a:solidFill>
                  <a:srgbClr val="555555"/>
                </a:solidFill>
                <a:latin typeface="Samsung One"/>
              </a:rPr>
              <a:t>"Then you get mini LEDs where there's thousands of LEDs giving you better brightness."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4480560"/>
            <a:ext cx="5486400" cy="1280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457200" y="4480560"/>
            <a:ext cx="50800" cy="128016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566928" y="4590288"/>
            <a:ext cx="548640" cy="27432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Samsung Sharp Sans"/>
              </a:rPr>
              <a:t>6:49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34440" y="4553712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000000"/>
                </a:solidFill>
                <a:latin typeface="Samsung One"/>
              </a:rPr>
              <a:t>My pick! The best type of TV in 2026!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234440" y="4773168"/>
            <a:ext cx="4572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66666"/>
                </a:solidFill>
                <a:latin typeface="Samsung One"/>
              </a:rPr>
              <a:t>Jon Rettinger  ·  12 citations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" y="5010912"/>
            <a:ext cx="5166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i="1">
                <a:solidFill>
                  <a:srgbClr val="555555"/>
                </a:solidFill>
                <a:latin typeface="Samsung One"/>
              </a:rPr>
              <a:t>"Mini-LED sits in the sweet spot. Thousands of tiny LEDs controlling the backlight precisely."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217920" y="4480560"/>
            <a:ext cx="5486400" cy="1280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6217920" y="4480560"/>
            <a:ext cx="50800" cy="128016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6327648" y="4590288"/>
            <a:ext cx="548640" cy="27432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Samsung Sharp Sans"/>
              </a:rPr>
              <a:t>0:36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995160" y="4553712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000000"/>
                </a:solidFill>
                <a:latin typeface="Samsung One"/>
              </a:rPr>
              <a:t>RGB and SQD-Mini LED — What's new in 2026?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995160" y="4773168"/>
            <a:ext cx="4572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66666"/>
                </a:solidFill>
                <a:latin typeface="Samsung One"/>
              </a:rPr>
              <a:t>Tech Steve  ·  8 citations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00800" y="5010912"/>
            <a:ext cx="5166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i="1">
                <a:solidFill>
                  <a:srgbClr val="555555"/>
                </a:solidFill>
                <a:latin typeface="Samsung One"/>
              </a:rPr>
              <a:t>"A traditional mini-LED TV uses a blue backlight with quantum dots to create red and green."</a:t>
            </a:r>
          </a:p>
        </p:txBody>
      </p:sp>
      <p:pic>
        <p:nvPicPr>
          <p:cNvPr id="43" name="Picture 42">
            <a:extLst>
              <a:ext uri="{FF2B5EF4-FFF2-40B4-BE49-F238E27FC236}">
                <a16:creationId xmlns:a16="http://schemas.microsoft.com/office/drawing/2014/main" id="{B6EB9CC7-29D5-D499-12C1-4DC1A1CFF9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7373" y="5645358"/>
            <a:ext cx="9982294" cy="107548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42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7315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Samsung Sharp Sans"/>
              </a:rPr>
              <a:t>What's Being Said</a:t>
            </a:r>
            <a:r>
              <a:rPr sz="1400">
                <a:solidFill>
                  <a:srgbClr val="CCCCFF"/>
                </a:solidFill>
                <a:latin typeface="Samsung One"/>
              </a:rPr>
              <a:t>  Transcript Analysis from Top Mini-LED Cited Videos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0" y="228600"/>
            <a:ext cx="2743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DDDDFF"/>
                </a:solidFill>
                <a:latin typeface="Samsung One"/>
              </a:rPr>
              <a:t>YouTube Citations | Feb 2026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03949590"/>
              </p:ext>
            </p:extLst>
          </p:nvPr>
        </p:nvGraphicFramePr>
        <p:xfrm>
          <a:off x="351845" y="1051560"/>
          <a:ext cx="566928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6309360" y="1051560"/>
          <a:ext cx="548640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312751" y="4263448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000000"/>
                </a:solidFill>
                <a:latin typeface="Samsung Sharp Sans"/>
              </a:rPr>
              <a:t>Representative Quotes from Top-Cited Mini-LED Transcripts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4564222"/>
            <a:ext cx="3749039" cy="86431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65760" y="4564222"/>
            <a:ext cx="50800" cy="864311"/>
          </a:xfrm>
          <a:prstGeom prst="rect">
            <a:avLst/>
          </a:prstGeom>
          <a:solidFill>
            <a:srgbClr val="142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2920" y="4609329"/>
            <a:ext cx="3474719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i="1" dirty="0">
                <a:solidFill>
                  <a:srgbClr val="000000"/>
                </a:solidFill>
                <a:latin typeface="Samsung One"/>
              </a:rPr>
              <a:t>"Mini-LED sits in the sweet spot. Thousands of tiny LEDs controlling the backlight way more precisely."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4925614"/>
            <a:ext cx="2834639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dirty="0">
                <a:solidFill>
                  <a:srgbClr val="666666"/>
                </a:solidFill>
                <a:latin typeface="Samsung One"/>
              </a:rPr>
              <a:t>— Jon Rettinger, Best type of TV in 2026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91839" y="5188074"/>
            <a:ext cx="731520" cy="149019"/>
          </a:xfrm>
          <a:prstGeom prst="rect">
            <a:avLst/>
          </a:prstGeom>
          <a:solidFill>
            <a:srgbClr val="142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Samsung One"/>
              </a:rPr>
              <a:t>Mini-LED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97679" y="4564222"/>
            <a:ext cx="3749039" cy="86431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297679" y="4564222"/>
            <a:ext cx="50800" cy="864311"/>
          </a:xfrm>
          <a:prstGeom prst="rect">
            <a:avLst/>
          </a:prstGeom>
          <a:solidFill>
            <a:srgbClr val="142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434839" y="4609329"/>
            <a:ext cx="3474719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i="1">
                <a:solidFill>
                  <a:srgbClr val="000000"/>
                </a:solidFill>
                <a:latin typeface="Samsung One"/>
              </a:rPr>
              <a:t>"Most shoppers can't even tell which is which until someone points out the differences."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34839" y="4925614"/>
            <a:ext cx="2834639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66666"/>
                </a:solidFill>
                <a:latin typeface="Samsung One"/>
              </a:rPr>
              <a:t>— Explaining Tech x5, Mini-LED vs OLED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223758" y="5188074"/>
            <a:ext cx="731520" cy="149019"/>
          </a:xfrm>
          <a:prstGeom prst="rect">
            <a:avLst/>
          </a:prstGeom>
          <a:solidFill>
            <a:srgbClr val="142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Samsung One"/>
              </a:rPr>
              <a:t>Comparison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598" y="4564222"/>
            <a:ext cx="3749039" cy="86431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229598" y="4564222"/>
            <a:ext cx="50800" cy="864311"/>
          </a:xfrm>
          <a:prstGeom prst="rect">
            <a:avLst/>
          </a:prstGeom>
          <a:solidFill>
            <a:srgbClr val="142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366758" y="4609329"/>
            <a:ext cx="3474719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i="1">
                <a:solidFill>
                  <a:srgbClr val="000000"/>
                </a:solidFill>
                <a:latin typeface="Samsung One"/>
              </a:rPr>
              <a:t>"I'm testing a $250 monitor that's just as good as a $1,500 OLED. Did I really waste $1,000?"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66758" y="4925614"/>
            <a:ext cx="2834639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dirty="0">
                <a:solidFill>
                  <a:srgbClr val="666666"/>
                </a:solidFill>
                <a:latin typeface="Samsung One"/>
              </a:rPr>
              <a:t>— Switch and Click, Mini LED vs OLED Monitors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1155677" y="5188074"/>
            <a:ext cx="731520" cy="149019"/>
          </a:xfrm>
          <a:prstGeom prst="rect">
            <a:avLst/>
          </a:prstGeom>
          <a:solidFill>
            <a:srgbClr val="142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Samsung One"/>
              </a:rPr>
              <a:t>Value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5818101"/>
            <a:ext cx="3749039" cy="86431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365760" y="5818101"/>
            <a:ext cx="50800" cy="864311"/>
          </a:xfrm>
          <a:prstGeom prst="rect">
            <a:avLst/>
          </a:prstGeom>
          <a:solidFill>
            <a:srgbClr val="142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02920" y="5805780"/>
            <a:ext cx="3474719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i="1" dirty="0">
                <a:solidFill>
                  <a:srgbClr val="000000"/>
                </a:solidFill>
                <a:latin typeface="Samsung One"/>
              </a:rPr>
              <a:t>"Samsung calls its mini-LEDs Neo QLED — this is where marketing terms start to muddy the waters."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6179493"/>
            <a:ext cx="2834639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66666"/>
                </a:solidFill>
                <a:latin typeface="Samsung One"/>
              </a:rPr>
              <a:t>— Tom's Guide, OLED, Mini-LED, RGB Compared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91839" y="6441953"/>
            <a:ext cx="731520" cy="149019"/>
          </a:xfrm>
          <a:prstGeom prst="rect">
            <a:avLst/>
          </a:prstGeom>
          <a:solidFill>
            <a:srgbClr val="142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Samsung One"/>
              </a:rPr>
              <a:t>Branding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297679" y="5818101"/>
            <a:ext cx="3749039" cy="86431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4297679" y="5818101"/>
            <a:ext cx="50800" cy="864311"/>
          </a:xfrm>
          <a:prstGeom prst="rect">
            <a:avLst/>
          </a:prstGeom>
          <a:solidFill>
            <a:srgbClr val="142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434839" y="5805780"/>
            <a:ext cx="3474719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i="1">
                <a:solidFill>
                  <a:srgbClr val="000000"/>
                </a:solidFill>
                <a:latin typeface="Samsung One"/>
              </a:rPr>
              <a:t>"You've seen QLED and Mini-LED plastered everywhere. My job is to help this make sense."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34839" y="6179493"/>
            <a:ext cx="2834639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66666"/>
                </a:solidFill>
                <a:latin typeface="Samsung One"/>
              </a:rPr>
              <a:t>— The Viewing Angle, QLED vs Mini-LED TVs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223758" y="6441953"/>
            <a:ext cx="731520" cy="149019"/>
          </a:xfrm>
          <a:prstGeom prst="rect">
            <a:avLst/>
          </a:prstGeom>
          <a:solidFill>
            <a:srgbClr val="142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Samsung One"/>
              </a:rPr>
              <a:t>Education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229598" y="5818101"/>
            <a:ext cx="3749039" cy="86431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8229598" y="5818101"/>
            <a:ext cx="50800" cy="864311"/>
          </a:xfrm>
          <a:prstGeom prst="rect">
            <a:avLst/>
          </a:prstGeom>
          <a:solidFill>
            <a:srgbClr val="142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366758" y="5805780"/>
            <a:ext cx="3474719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i="1">
                <a:solidFill>
                  <a:srgbClr val="000000"/>
                </a:solidFill>
                <a:latin typeface="Samsung One"/>
              </a:rPr>
              <a:t>"A traditional mini-LED TV uses a blue backlight with quantum dots. This Hisense uses three colors on each pixel."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66758" y="6179493"/>
            <a:ext cx="2834639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66666"/>
                </a:solidFill>
                <a:latin typeface="Samsung One"/>
              </a:rPr>
              <a:t>— Tech Steve, RGB and SQD-Mini LED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1155677" y="6441953"/>
            <a:ext cx="731520" cy="149019"/>
          </a:xfrm>
          <a:prstGeom prst="rect">
            <a:avLst/>
          </a:prstGeom>
          <a:solidFill>
            <a:srgbClr val="142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Samsung One"/>
              </a:rPr>
              <a:t>Technology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1170</Words>
  <Application>Microsoft Office PowerPoint</Application>
  <PresentationFormat>Widescreen</PresentationFormat>
  <Paragraphs>283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Calibri</vt:lpstr>
      <vt:lpstr>Samsung One</vt:lpstr>
      <vt:lpstr>Samsung Sharp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Robert Francis</cp:lastModifiedBy>
  <cp:revision>2</cp:revision>
  <dcterms:created xsi:type="dcterms:W3CDTF">2013-01-27T09:14:16Z</dcterms:created>
  <dcterms:modified xsi:type="dcterms:W3CDTF">2026-02-06T17:45:39Z</dcterms:modified>
  <cp:category/>
</cp:coreProperties>
</file>